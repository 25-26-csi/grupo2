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3" r:id="rId11"/>
    <p:sldId id="267" r:id="rId12"/>
    <p:sldId id="268" r:id="rId13"/>
    <p:sldId id="269" r:id="rId14"/>
    <p:sldId id="270" r:id="rId15"/>
    <p:sldId id="271" r:id="rId16"/>
  </p:sldIdLst>
  <p:sldSz cx="14630400" cy="8229600"/>
  <p:notesSz cx="8229600" cy="146304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Tomorrow" panose="020B0604020202020204" charset="0"/>
      <p:regular r:id="rId22"/>
    </p:embeddedFont>
    <p:embeddedFont>
      <p:font typeface="Tomorrow Semi Bold" panose="020B0604020202020204" charset="0"/>
      <p:regular r:id="rId23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58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55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876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98276"/>
            <a:ext cx="1069228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Criptografía y Seguridad de la Información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97649"/>
            <a:ext cx="653272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Aplicación de la Criptografía PGP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93790" y="389143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Universidad Central del Ecuador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43222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Facultad de Ingeniería y Ciencias Aplicadas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97300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Integrantes: Andino John, Borja Diego, Cajamarca Anthony, Cruz Kevin, Jami Mateo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51378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Profesor: Ing. Giovanny Moncayo</a:t>
            </a:r>
            <a:endParaRPr lang="en-US" sz="155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B86FD2-976B-4845-BEC1-DAB921931CAA}"/>
              </a:ext>
            </a:extLst>
          </p:cNvPr>
          <p:cNvSpPr/>
          <p:nvPr/>
        </p:nvSpPr>
        <p:spPr>
          <a:xfrm>
            <a:off x="12458700" y="7289800"/>
            <a:ext cx="2171700" cy="939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1527"/>
            <a:ext cx="782657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Definición de la Tecnología PGP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758440"/>
            <a:ext cx="4215289" cy="3729514"/>
          </a:xfrm>
          <a:prstGeom prst="roundRect">
            <a:avLst>
              <a:gd name="adj" fmla="val 2942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758440"/>
            <a:ext cx="91440" cy="3729514"/>
          </a:xfrm>
          <a:prstGeom prst="roundRect">
            <a:avLst>
              <a:gd name="adj" fmla="val 32558"/>
            </a:avLst>
          </a:prstGeom>
          <a:solidFill>
            <a:srgbClr val="1D1D1B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979658"/>
            <a:ext cx="34890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GnuPG (GNU Privacy Guard)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408878"/>
            <a:ext cx="3704273" cy="285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Herramienta criptográfica de código abierto que implementa el estándar OpenPGP. Ofrece confidencialidad, integridad y autenticación mediante cifrado, firma digital y compresión de datos. Es ampliamente adoptada por su soporte a estándares internacionales y su robusta gestión de claves.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2758440"/>
            <a:ext cx="4215408" cy="3729514"/>
          </a:xfrm>
          <a:prstGeom prst="roundRect">
            <a:avLst>
              <a:gd name="adj" fmla="val 2942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4577" y="2758440"/>
            <a:ext cx="91440" cy="3729514"/>
          </a:xfrm>
          <a:prstGeom prst="roundRect">
            <a:avLst>
              <a:gd name="adj" fmla="val 32558"/>
            </a:avLst>
          </a:prstGeom>
          <a:solidFill>
            <a:srgbClr val="1D1D1B"/>
          </a:solidFill>
          <a:ln/>
        </p:spPr>
      </p:sp>
      <p:sp>
        <p:nvSpPr>
          <p:cNvPr id="9" name="Text 7"/>
          <p:cNvSpPr/>
          <p:nvPr/>
        </p:nvSpPr>
        <p:spPr>
          <a:xfrm>
            <a:off x="5497235" y="29796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OpenPGP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97235" y="3408878"/>
            <a:ext cx="370439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Estándar abierto derivado del protocolo PGP original. Proporciona cifrado de extremo a extremo usando criptografía asimétrica y simétrica, basado en certificados y firmas de confianza. Utilizado para proteger comunicaciones como el correo electrónico seguro y mecanismos PKI.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21203" y="2758440"/>
            <a:ext cx="4215289" cy="3729514"/>
          </a:xfrm>
          <a:prstGeom prst="roundRect">
            <a:avLst>
              <a:gd name="adj" fmla="val 2942"/>
            </a:avLst>
          </a:prstGeom>
          <a:solidFill>
            <a:srgbClr val="FCFCFC"/>
          </a:solidFill>
          <a:ln w="22860">
            <a:solidFill>
              <a:srgbClr val="D6D0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98343" y="2758440"/>
            <a:ext cx="91440" cy="3729514"/>
          </a:xfrm>
          <a:prstGeom prst="roundRect">
            <a:avLst>
              <a:gd name="adj" fmla="val 32558"/>
            </a:avLst>
          </a:prstGeom>
          <a:solidFill>
            <a:srgbClr val="1D1D1B"/>
          </a:solidFill>
          <a:ln/>
        </p:spPr>
      </p:sp>
      <p:sp>
        <p:nvSpPr>
          <p:cNvPr id="13" name="Text 11"/>
          <p:cNvSpPr/>
          <p:nvPr/>
        </p:nvSpPr>
        <p:spPr>
          <a:xfrm>
            <a:off x="9911001" y="2979658"/>
            <a:ext cx="32313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PGP (Pretty Good Privacy)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11001" y="3408878"/>
            <a:ext cx="3704273" cy="285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Sistema criptográfico creado por Philip Zimmermann en 1991 para proteger correos electrónicos y archivos. Ofrece confidencialidad, autenticación e integridad mediante firmas digitales, compresión y codificación Radix-64. Es una herramienta clave para la privacidad en comunicaciones y almacenamiento de datos.</a:t>
            </a:r>
            <a:endParaRPr lang="en-US" sz="15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0052D92-4FE2-4C0D-A769-B6E6B5073D4B}"/>
              </a:ext>
            </a:extLst>
          </p:cNvPr>
          <p:cNvSpPr/>
          <p:nvPr/>
        </p:nvSpPr>
        <p:spPr>
          <a:xfrm>
            <a:off x="12458700" y="7289800"/>
            <a:ext cx="2171700" cy="939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3928"/>
            <a:ext cx="796944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Algoritmos Criptográficos Clave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920841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3038594"/>
            <a:ext cx="343804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RSA (Rivest–Shamir–Adleman)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37930" y="3777972"/>
            <a:ext cx="343804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Algoritmo de criptografía de clave pública para cifrar y descifrar. Se basa en la elección de dos números primos grandes para generar claves pública y </a:t>
            </a:r>
            <a:r>
              <a:rPr lang="en-US" sz="15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privada</a:t>
            </a: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, </a:t>
            </a:r>
            <a:r>
              <a:rPr lang="en-US" sz="15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garantizando</a:t>
            </a: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5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confidencialidad</a:t>
            </a: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y </a:t>
            </a:r>
            <a:r>
              <a:rPr lang="en-US" sz="15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autenticidad</a:t>
            </a: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RSA-2048 </a:t>
            </a:r>
            <a:r>
              <a:rPr lang="en-US" sz="15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usa</a:t>
            </a: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claves de 2048 bits para mayor </a:t>
            </a:r>
            <a:r>
              <a:rPr lang="en-US" sz="15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seguridad</a:t>
            </a: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3986" y="2920841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68127" y="3038594"/>
            <a:ext cx="3438168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AES (Advanced Encryption Standard)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968127" y="3777972"/>
            <a:ext cx="3438168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Algoritmo de cifrado simétrico por bloques (Rijndael) para proteger la confidencialidad. Divide el mensaje en bloques, aplicando rondas de sustitución, permutación y mezcla con subclaves. Combina seguridad, eficiencia y compatibilidad con estándares internacionales.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4302" y="2920841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98443" y="30385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SHA-256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0398443" y="3467814"/>
            <a:ext cx="3438168" cy="285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Algoritmo de hash criptográfico (familia SHA-2) que genera un resumen de mensaje de 256 bits. Garantiza la integridad de la información, produciendo un hash único para cada entrada. Utilizado en seguridad informática, criptomonedas y verificación de archivos.</a:t>
            </a:r>
            <a:endParaRPr lang="en-US" sz="155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BF5C474-FC3C-4158-95E1-73C7C29C2B22}"/>
              </a:ext>
            </a:extLst>
          </p:cNvPr>
          <p:cNvSpPr/>
          <p:nvPr/>
        </p:nvSpPr>
        <p:spPr>
          <a:xfrm>
            <a:off x="12458700" y="7289800"/>
            <a:ext cx="2171700" cy="939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050" y="404217"/>
            <a:ext cx="7274362" cy="459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Protocolos Criptográficos Involucrados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07580" y="1157526"/>
            <a:ext cx="15240" cy="6670596"/>
          </a:xfrm>
          <a:prstGeom prst="roundRect">
            <a:avLst>
              <a:gd name="adj" fmla="val 144703"/>
            </a:avLst>
          </a:prstGeom>
          <a:solidFill>
            <a:srgbClr val="D6D0D0"/>
          </a:solidFill>
          <a:ln/>
        </p:spPr>
      </p:sp>
      <p:sp>
        <p:nvSpPr>
          <p:cNvPr id="4" name="Shape 2"/>
          <p:cNvSpPr/>
          <p:nvPr/>
        </p:nvSpPr>
        <p:spPr>
          <a:xfrm>
            <a:off x="7036475" y="1315283"/>
            <a:ext cx="293965" cy="15240"/>
          </a:xfrm>
          <a:prstGeom prst="roundRect">
            <a:avLst>
              <a:gd name="adj" fmla="val 144703"/>
            </a:avLst>
          </a:prstGeom>
          <a:solidFill>
            <a:srgbClr val="D6D0D0"/>
          </a:solidFill>
          <a:ln/>
        </p:spPr>
      </p:sp>
      <p:sp>
        <p:nvSpPr>
          <p:cNvPr id="5" name="Shape 3"/>
          <p:cNvSpPr/>
          <p:nvPr/>
        </p:nvSpPr>
        <p:spPr>
          <a:xfrm>
            <a:off x="7260074" y="1267778"/>
            <a:ext cx="110252" cy="110252"/>
          </a:xfrm>
          <a:prstGeom prst="roundRect">
            <a:avLst>
              <a:gd name="adj" fmla="val 414686"/>
            </a:avLst>
          </a:prstGeom>
          <a:solidFill>
            <a:srgbClr val="1D1D1B"/>
          </a:solidFill>
          <a:ln/>
        </p:spPr>
      </p:sp>
      <p:sp>
        <p:nvSpPr>
          <p:cNvPr id="6" name="Text 4"/>
          <p:cNvSpPr/>
          <p:nvPr/>
        </p:nvSpPr>
        <p:spPr>
          <a:xfrm>
            <a:off x="4760595" y="1208008"/>
            <a:ext cx="1966555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OpenPGP (RFC 4880)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8050" y="1525667"/>
            <a:ext cx="6139101" cy="470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Define la estructura de mensajes cifrados, firmas digitales, metapaquetes y codificación ASCII Armor. Es el estándar fundamental para implementaciones PGP.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99960" y="2197298"/>
            <a:ext cx="293965" cy="15240"/>
          </a:xfrm>
          <a:prstGeom prst="roundRect">
            <a:avLst>
              <a:gd name="adj" fmla="val 144703"/>
            </a:avLst>
          </a:prstGeom>
          <a:solidFill>
            <a:srgbClr val="D6D0D0"/>
          </a:solidFill>
          <a:ln/>
        </p:spPr>
      </p:sp>
      <p:sp>
        <p:nvSpPr>
          <p:cNvPr id="9" name="Shape 7"/>
          <p:cNvSpPr/>
          <p:nvPr/>
        </p:nvSpPr>
        <p:spPr>
          <a:xfrm>
            <a:off x="7260074" y="2149793"/>
            <a:ext cx="110252" cy="110252"/>
          </a:xfrm>
          <a:prstGeom prst="roundRect">
            <a:avLst>
              <a:gd name="adj" fmla="val 414686"/>
            </a:avLst>
          </a:prstGeom>
          <a:solidFill>
            <a:srgbClr val="1D1D1B"/>
          </a:solidFill>
          <a:ln/>
        </p:spPr>
      </p:sp>
      <p:sp>
        <p:nvSpPr>
          <p:cNvPr id="10" name="Text 8"/>
          <p:cNvSpPr/>
          <p:nvPr/>
        </p:nvSpPr>
        <p:spPr>
          <a:xfrm>
            <a:off x="7903250" y="2090023"/>
            <a:ext cx="1837611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Web of Trust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03250" y="2407682"/>
            <a:ext cx="6139101" cy="470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Manejo de confianza distribuida para validar claves públicas sin una autoridad central. Define cómo se firman claves de terceros y se construyen redes de confianza.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36475" y="2957513"/>
            <a:ext cx="293965" cy="15240"/>
          </a:xfrm>
          <a:prstGeom prst="roundRect">
            <a:avLst>
              <a:gd name="adj" fmla="val 144703"/>
            </a:avLst>
          </a:prstGeom>
          <a:solidFill>
            <a:srgbClr val="D6D0D0"/>
          </a:solidFill>
          <a:ln/>
        </p:spPr>
      </p:sp>
      <p:sp>
        <p:nvSpPr>
          <p:cNvPr id="13" name="Shape 11"/>
          <p:cNvSpPr/>
          <p:nvPr/>
        </p:nvSpPr>
        <p:spPr>
          <a:xfrm>
            <a:off x="7260074" y="2910007"/>
            <a:ext cx="110252" cy="110252"/>
          </a:xfrm>
          <a:prstGeom prst="roundRect">
            <a:avLst>
              <a:gd name="adj" fmla="val 414686"/>
            </a:avLst>
          </a:prstGeom>
          <a:solidFill>
            <a:srgbClr val="1D1D1B"/>
          </a:solidFill>
          <a:ln/>
        </p:spPr>
      </p:sp>
      <p:sp>
        <p:nvSpPr>
          <p:cNvPr id="14" name="Text 12"/>
          <p:cNvSpPr/>
          <p:nvPr/>
        </p:nvSpPr>
        <p:spPr>
          <a:xfrm>
            <a:off x="4889540" y="2850237"/>
            <a:ext cx="1837611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Gestión de Claves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8050" y="3167896"/>
            <a:ext cx="6139101" cy="470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Protocolo interno para la creación, exportación, importación, revocación y firma de claves, determinando su ciclo de vida y la estructura de los keyrings.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99960" y="3717846"/>
            <a:ext cx="293965" cy="15240"/>
          </a:xfrm>
          <a:prstGeom prst="roundRect">
            <a:avLst>
              <a:gd name="adj" fmla="val 144703"/>
            </a:avLst>
          </a:prstGeom>
          <a:solidFill>
            <a:srgbClr val="D6D0D0"/>
          </a:solidFill>
          <a:ln/>
        </p:spPr>
      </p:sp>
      <p:sp>
        <p:nvSpPr>
          <p:cNvPr id="17" name="Shape 15"/>
          <p:cNvSpPr/>
          <p:nvPr/>
        </p:nvSpPr>
        <p:spPr>
          <a:xfrm>
            <a:off x="7260074" y="3670340"/>
            <a:ext cx="110252" cy="110252"/>
          </a:xfrm>
          <a:prstGeom prst="roundRect">
            <a:avLst>
              <a:gd name="adj" fmla="val 414686"/>
            </a:avLst>
          </a:prstGeom>
          <a:solidFill>
            <a:srgbClr val="1D1D1B"/>
          </a:solidFill>
          <a:ln/>
        </p:spPr>
      </p:sp>
      <p:sp>
        <p:nvSpPr>
          <p:cNvPr id="18" name="Text 16"/>
          <p:cNvSpPr/>
          <p:nvPr/>
        </p:nvSpPr>
        <p:spPr>
          <a:xfrm>
            <a:off x="7903250" y="3610570"/>
            <a:ext cx="2578060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Cifrado Híbrido en OpenPGP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03250" y="3928229"/>
            <a:ext cx="6139101" cy="470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Combina cifrado simétrico para el contenido y asimétrico para proteger la clave de sesión, logrando confidencialidad y eficiencia.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36475" y="4478179"/>
            <a:ext cx="293965" cy="15240"/>
          </a:xfrm>
          <a:prstGeom prst="roundRect">
            <a:avLst>
              <a:gd name="adj" fmla="val 144703"/>
            </a:avLst>
          </a:prstGeom>
          <a:solidFill>
            <a:srgbClr val="D6D0D0"/>
          </a:solidFill>
          <a:ln/>
        </p:spPr>
      </p:sp>
      <p:sp>
        <p:nvSpPr>
          <p:cNvPr id="21" name="Shape 19"/>
          <p:cNvSpPr/>
          <p:nvPr/>
        </p:nvSpPr>
        <p:spPr>
          <a:xfrm>
            <a:off x="7260074" y="4430673"/>
            <a:ext cx="110252" cy="110252"/>
          </a:xfrm>
          <a:prstGeom prst="roundRect">
            <a:avLst>
              <a:gd name="adj" fmla="val 414686"/>
            </a:avLst>
          </a:prstGeom>
          <a:solidFill>
            <a:srgbClr val="1D1D1B"/>
          </a:solidFill>
          <a:ln/>
        </p:spPr>
      </p:sp>
      <p:sp>
        <p:nvSpPr>
          <p:cNvPr id="22" name="Text 20"/>
          <p:cNvSpPr/>
          <p:nvPr/>
        </p:nvSpPr>
        <p:spPr>
          <a:xfrm>
            <a:off x="3313867" y="4370903"/>
            <a:ext cx="3413284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Codificación Radix-64 (ASCII Armor)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8050" y="4688562"/>
            <a:ext cx="6139101" cy="470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Transforma bloques binarios en representación ASCII para transporte seguro por correo electrónico, garantizando interoperabilidad.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99960" y="5238512"/>
            <a:ext cx="293965" cy="15240"/>
          </a:xfrm>
          <a:prstGeom prst="roundRect">
            <a:avLst>
              <a:gd name="adj" fmla="val 144703"/>
            </a:avLst>
          </a:prstGeom>
          <a:solidFill>
            <a:srgbClr val="D6D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7260074" y="5191006"/>
            <a:ext cx="110252" cy="110252"/>
          </a:xfrm>
          <a:prstGeom prst="roundRect">
            <a:avLst>
              <a:gd name="adj" fmla="val 414686"/>
            </a:avLst>
          </a:prstGeom>
          <a:solidFill>
            <a:srgbClr val="1D1D1B"/>
          </a:solidFill>
          <a:ln/>
        </p:spPr>
      </p:sp>
      <p:sp>
        <p:nvSpPr>
          <p:cNvPr id="26" name="Text 24"/>
          <p:cNvSpPr/>
          <p:nvPr/>
        </p:nvSpPr>
        <p:spPr>
          <a:xfrm>
            <a:off x="7903250" y="5131237"/>
            <a:ext cx="2425065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Firmas Digitales OpenPGP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903250" y="5448895"/>
            <a:ext cx="6139101" cy="470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Define la estructura y verificación de firmas digitales, incluyendo campos como hash, timestamp e issuer, para autenticar el remitente.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36475" y="5998845"/>
            <a:ext cx="293965" cy="15240"/>
          </a:xfrm>
          <a:prstGeom prst="roundRect">
            <a:avLst>
              <a:gd name="adj" fmla="val 144703"/>
            </a:avLst>
          </a:prstGeom>
          <a:solidFill>
            <a:srgbClr val="D6D0D0"/>
          </a:solidFill>
          <a:ln/>
        </p:spPr>
      </p:sp>
      <p:sp>
        <p:nvSpPr>
          <p:cNvPr id="29" name="Shape 27"/>
          <p:cNvSpPr/>
          <p:nvPr/>
        </p:nvSpPr>
        <p:spPr>
          <a:xfrm>
            <a:off x="7260074" y="5951339"/>
            <a:ext cx="110252" cy="110252"/>
          </a:xfrm>
          <a:prstGeom prst="roundRect">
            <a:avLst>
              <a:gd name="adj" fmla="val 414686"/>
            </a:avLst>
          </a:prstGeom>
          <a:solidFill>
            <a:srgbClr val="1D1D1B"/>
          </a:solidFill>
          <a:ln/>
        </p:spPr>
      </p:sp>
      <p:sp>
        <p:nvSpPr>
          <p:cNvPr id="30" name="Text 28"/>
          <p:cNvSpPr/>
          <p:nvPr/>
        </p:nvSpPr>
        <p:spPr>
          <a:xfrm>
            <a:off x="4677013" y="5891570"/>
            <a:ext cx="2050137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Compresión OpenPGP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88050" y="6209228"/>
            <a:ext cx="6139101" cy="470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Reduce el tamaño del mensaje antes del cifrado, eliminando patrones repetitivos y contribuyendo a la seguridad.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99960" y="6759178"/>
            <a:ext cx="293965" cy="15240"/>
          </a:xfrm>
          <a:prstGeom prst="roundRect">
            <a:avLst>
              <a:gd name="adj" fmla="val 144703"/>
            </a:avLst>
          </a:prstGeom>
          <a:solidFill>
            <a:srgbClr val="D6D0D0"/>
          </a:solidFill>
          <a:ln/>
        </p:spPr>
      </p:sp>
      <p:sp>
        <p:nvSpPr>
          <p:cNvPr id="33" name="Shape 31"/>
          <p:cNvSpPr/>
          <p:nvPr/>
        </p:nvSpPr>
        <p:spPr>
          <a:xfrm>
            <a:off x="7260074" y="6711672"/>
            <a:ext cx="110252" cy="110252"/>
          </a:xfrm>
          <a:prstGeom prst="roundRect">
            <a:avLst>
              <a:gd name="adj" fmla="val 414686"/>
            </a:avLst>
          </a:prstGeom>
          <a:solidFill>
            <a:srgbClr val="1D1D1B"/>
          </a:solidFill>
          <a:ln/>
        </p:spPr>
      </p:sp>
      <p:sp>
        <p:nvSpPr>
          <p:cNvPr id="34" name="Text 32"/>
          <p:cNvSpPr/>
          <p:nvPr/>
        </p:nvSpPr>
        <p:spPr>
          <a:xfrm>
            <a:off x="7903250" y="6651903"/>
            <a:ext cx="1837611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Integridad (MDC)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903250" y="6969562"/>
            <a:ext cx="6139101" cy="470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Detecta modificaciones no autorizadas en mensajes cifrados, agregando un hash del contenido para verificar su inalterabilidad.</a:t>
            </a:r>
            <a:endParaRPr lang="en-US" sz="14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609AE10-3D73-4934-A065-697574F2B772}"/>
              </a:ext>
            </a:extLst>
          </p:cNvPr>
          <p:cNvSpPr/>
          <p:nvPr/>
        </p:nvSpPr>
        <p:spPr>
          <a:xfrm>
            <a:off x="12458700" y="7632700"/>
            <a:ext cx="21717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6835" y="20884158"/>
            <a:ext cx="13836729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396835" y="21154311"/>
            <a:ext cx="13836729" cy="158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75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C775D13-188B-418C-8F07-41C5846A0A0C}"/>
              </a:ext>
            </a:extLst>
          </p:cNvPr>
          <p:cNvSpPr/>
          <p:nvPr/>
        </p:nvSpPr>
        <p:spPr>
          <a:xfrm>
            <a:off x="12458700" y="7289800"/>
            <a:ext cx="2171700" cy="939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FC8824-C47B-413C-995F-271DD708F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073" y="882490"/>
            <a:ext cx="3512562" cy="73471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E9593E7-EC38-4FA9-A062-6B5E93A76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1" y="330926"/>
            <a:ext cx="4243852" cy="7898674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7624BCAA-F60B-4FE8-8BDD-58B0CD5B28CB}"/>
              </a:ext>
            </a:extLst>
          </p:cNvPr>
          <p:cNvSpPr/>
          <p:nvPr/>
        </p:nvSpPr>
        <p:spPr>
          <a:xfrm>
            <a:off x="285790" y="262412"/>
            <a:ext cx="943653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Funcionamiento Esquemático de PGP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7702"/>
            <a:ext cx="729674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Escenarios de Uso Frecuente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932271"/>
            <a:ext cx="4215289" cy="3679508"/>
          </a:xfrm>
          <a:prstGeom prst="roundRect">
            <a:avLst>
              <a:gd name="adj" fmla="val 2982"/>
            </a:avLst>
          </a:prstGeom>
          <a:solidFill>
            <a:srgbClr val="FCFCFC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909411"/>
            <a:ext cx="4215289" cy="91440"/>
          </a:xfrm>
          <a:prstGeom prst="roundRect">
            <a:avLst>
              <a:gd name="adj" fmla="val 32558"/>
            </a:avLst>
          </a:prstGeom>
          <a:solidFill>
            <a:srgbClr val="1D1D1B"/>
          </a:solidFill>
          <a:ln/>
        </p:spPr>
      </p:sp>
      <p:sp>
        <p:nvSpPr>
          <p:cNvPr id="5" name="Shape 3"/>
          <p:cNvSpPr/>
          <p:nvPr/>
        </p:nvSpPr>
        <p:spPr>
          <a:xfrm>
            <a:off x="2603778" y="263461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D1D1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2372" y="2813209"/>
            <a:ext cx="238125" cy="238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008" y="3428405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Correos Electrónicos Corporativos Sensibles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15008" y="4167783"/>
            <a:ext cx="377285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Organizaciones financieras, legales y gubernamentales utilizan PGP para cifrar comunicaciones, protegiendo información confidencial de ataques de interceptación. Las firmas digitales verifican la identidad del remitente y la integridad del mensaje.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2932271"/>
            <a:ext cx="4215408" cy="3679508"/>
          </a:xfrm>
          <a:prstGeom prst="roundRect">
            <a:avLst>
              <a:gd name="adj" fmla="val 2982"/>
            </a:avLst>
          </a:prstGeom>
          <a:solidFill>
            <a:srgbClr val="FCFCFC"/>
          </a:solidFill>
          <a:ln/>
        </p:spPr>
      </p:sp>
      <p:sp>
        <p:nvSpPr>
          <p:cNvPr id="10" name="Shape 7"/>
          <p:cNvSpPr/>
          <p:nvPr/>
        </p:nvSpPr>
        <p:spPr>
          <a:xfrm>
            <a:off x="5207437" y="2909411"/>
            <a:ext cx="4215408" cy="91440"/>
          </a:xfrm>
          <a:prstGeom prst="roundRect">
            <a:avLst>
              <a:gd name="adj" fmla="val 32558"/>
            </a:avLst>
          </a:prstGeom>
          <a:solidFill>
            <a:srgbClr val="1D1D1B"/>
          </a:solidFill>
          <a:ln/>
        </p:spPr>
      </p:sp>
      <p:sp>
        <p:nvSpPr>
          <p:cNvPr id="11" name="Shape 8"/>
          <p:cNvSpPr/>
          <p:nvPr/>
        </p:nvSpPr>
        <p:spPr>
          <a:xfrm>
            <a:off x="7017425" y="263461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D1D1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6018" y="2813209"/>
            <a:ext cx="238125" cy="238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8655" y="3428405"/>
            <a:ext cx="377297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Intercambio Seguro de Registros Médicos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5428655" y="4167783"/>
            <a:ext cx="3772972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 sector salud emplea OpenPGP para cifrar historiales clínicos, diagnósticos y recetas electrónicas. Esto evita el acceso no autorizado y la modificación de datos, garantizando la privacidad del paciente y la integridad de los tratamientos.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9621203" y="2932271"/>
            <a:ext cx="4215289" cy="3679508"/>
          </a:xfrm>
          <a:prstGeom prst="roundRect">
            <a:avLst>
              <a:gd name="adj" fmla="val 2982"/>
            </a:avLst>
          </a:prstGeom>
          <a:solidFill>
            <a:srgbClr val="FCFCFC"/>
          </a:solidFill>
          <a:ln/>
        </p:spPr>
      </p:sp>
      <p:sp>
        <p:nvSpPr>
          <p:cNvPr id="16" name="Shape 12"/>
          <p:cNvSpPr/>
          <p:nvPr/>
        </p:nvSpPr>
        <p:spPr>
          <a:xfrm>
            <a:off x="9621203" y="2909411"/>
            <a:ext cx="4215289" cy="91440"/>
          </a:xfrm>
          <a:prstGeom prst="roundRect">
            <a:avLst>
              <a:gd name="adj" fmla="val 32558"/>
            </a:avLst>
          </a:prstGeom>
          <a:solidFill>
            <a:srgbClr val="1D1D1B"/>
          </a:solidFill>
          <a:ln/>
        </p:spPr>
      </p:sp>
      <p:sp>
        <p:nvSpPr>
          <p:cNvPr id="17" name="Shape 13"/>
          <p:cNvSpPr/>
          <p:nvPr/>
        </p:nvSpPr>
        <p:spPr>
          <a:xfrm>
            <a:off x="11431191" y="263461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D1D1B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09784" y="2813209"/>
            <a:ext cx="238125" cy="238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42421" y="3428405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Protección de Archivos en la Nube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9842421" y="4167783"/>
            <a:ext cx="377285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Profesionales y empresas cifran localmente sus archivos con PGP antes de subirlos a servicios en la nube. Esto impide que terceros accedan al contenido, incluso si la cuenta es comprometida, añadiendo una capa esencial de defensa.</a:t>
            </a:r>
            <a:endParaRPr lang="en-US" sz="155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395D7B7-E2D7-4863-B444-DD16316661F4}"/>
              </a:ext>
            </a:extLst>
          </p:cNvPr>
          <p:cNvSpPr/>
          <p:nvPr/>
        </p:nvSpPr>
        <p:spPr>
          <a:xfrm>
            <a:off x="12458700" y="7289800"/>
            <a:ext cx="2171700" cy="939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143" y="525304"/>
            <a:ext cx="11819096" cy="596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Implementación Práctica de PGP: Pasos Iniciales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1050608" y="2268260"/>
            <a:ext cx="3953470" cy="190976"/>
          </a:xfrm>
          <a:prstGeom prst="roundRect">
            <a:avLst>
              <a:gd name="adj" fmla="val 15005"/>
            </a:avLst>
          </a:prstGeom>
          <a:solidFill>
            <a:srgbClr val="F0EAEA"/>
          </a:solidFill>
          <a:ln/>
        </p:spPr>
      </p:sp>
      <p:sp>
        <p:nvSpPr>
          <p:cNvPr id="4" name="Shape 2"/>
          <p:cNvSpPr/>
          <p:nvPr/>
        </p:nvSpPr>
        <p:spPr>
          <a:xfrm>
            <a:off x="764143" y="2077224"/>
            <a:ext cx="573048" cy="573048"/>
          </a:xfrm>
          <a:prstGeom prst="roundRect">
            <a:avLst>
              <a:gd name="adj" fmla="val 79784"/>
            </a:avLst>
          </a:prstGeom>
          <a:solidFill>
            <a:srgbClr val="F0EA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7375" y="2220575"/>
            <a:ext cx="286464" cy="286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5119" y="2841308"/>
            <a:ext cx="3225403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Paso 1: Preparar el Entorno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55119" y="3254335"/>
            <a:ext cx="3858101" cy="1528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Configuración de los sistemas y herramientas necesarias para la simulación de cifrado PGP. Esto incluye la instalación de GnuPG y la preparación de los directorios de trabajo.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119" y="4998006"/>
            <a:ext cx="3858101" cy="263973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1637" y="1981676"/>
            <a:ext cx="3953470" cy="190976"/>
          </a:xfrm>
          <a:prstGeom prst="roundRect">
            <a:avLst>
              <a:gd name="adj" fmla="val 15005"/>
            </a:avLst>
          </a:prstGeom>
          <a:solidFill>
            <a:srgbClr val="F0EAEA"/>
          </a:solidFill>
          <a:ln/>
        </p:spPr>
      </p:sp>
      <p:sp>
        <p:nvSpPr>
          <p:cNvPr id="10" name="Shape 6"/>
          <p:cNvSpPr/>
          <p:nvPr/>
        </p:nvSpPr>
        <p:spPr>
          <a:xfrm>
            <a:off x="5195173" y="1790640"/>
            <a:ext cx="573048" cy="573048"/>
          </a:xfrm>
          <a:prstGeom prst="roundRect">
            <a:avLst>
              <a:gd name="adj" fmla="val 79784"/>
            </a:avLst>
          </a:prstGeom>
          <a:solidFill>
            <a:srgbClr val="F0EAE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8405" y="1933992"/>
            <a:ext cx="286464" cy="2864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86149" y="2554724"/>
            <a:ext cx="3858101" cy="596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Paso 2: Configurar la Simulación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5386149" y="3266242"/>
            <a:ext cx="3858101" cy="1223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Definición de los roles de los usuarios (Alice y Bob) y sus respectivos entornos de trabajo para simular un intercambio seguro de mensajes.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 rotWithShape="1">
          <a:blip r:embed="rId7"/>
          <a:srcRect b="22255"/>
          <a:stretch/>
        </p:blipFill>
        <p:spPr>
          <a:xfrm>
            <a:off x="5386149" y="4704159"/>
            <a:ext cx="3858101" cy="2052241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9912668" y="1695212"/>
            <a:ext cx="3953470" cy="190976"/>
          </a:xfrm>
          <a:prstGeom prst="roundRect">
            <a:avLst>
              <a:gd name="adj" fmla="val 15005"/>
            </a:avLst>
          </a:prstGeom>
          <a:solidFill>
            <a:srgbClr val="F0EAEA"/>
          </a:solidFill>
          <a:ln/>
        </p:spPr>
      </p:sp>
      <p:sp>
        <p:nvSpPr>
          <p:cNvPr id="16" name="Shape 10"/>
          <p:cNvSpPr/>
          <p:nvPr/>
        </p:nvSpPr>
        <p:spPr>
          <a:xfrm>
            <a:off x="9626203" y="1504176"/>
            <a:ext cx="573048" cy="573048"/>
          </a:xfrm>
          <a:prstGeom prst="roundRect">
            <a:avLst>
              <a:gd name="adj" fmla="val 79784"/>
            </a:avLst>
          </a:prstGeom>
          <a:solidFill>
            <a:srgbClr val="F0EAEA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69435" y="1647527"/>
            <a:ext cx="286464" cy="28646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817179" y="2268260"/>
            <a:ext cx="3858101" cy="596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Paso 3: Proteger las Contraseñas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9817179" y="2979777"/>
            <a:ext cx="3858101" cy="1528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Creación y gestión segura de las contraseñas que se utilizarán para proteger las claves privadas de cada usuario, un paso crítico para la seguridad general.</a:t>
            </a:r>
            <a:endParaRPr lang="en-US" sz="15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7179" y="4723448"/>
            <a:ext cx="3858101" cy="2639735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9E48A16F-7D6F-493F-9D02-43344258B637}"/>
              </a:ext>
            </a:extLst>
          </p:cNvPr>
          <p:cNvSpPr/>
          <p:nvPr/>
        </p:nvSpPr>
        <p:spPr>
          <a:xfrm>
            <a:off x="12458700" y="7363182"/>
            <a:ext cx="2171700" cy="866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330" y="679490"/>
            <a:ext cx="12724328" cy="574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Implementación Práctica de PGP: Generación y Cifrado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" y="2173129"/>
            <a:ext cx="4263985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9162" y="2908459"/>
            <a:ext cx="3386971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Paso 4: Generación de Llaves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9162" y="3305889"/>
            <a:ext cx="3896320" cy="117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Cada usuario genera su par de claves (pública y privada) utilizando GnuPG. Este proceso incluye la selección del algoritmo y la longitud de la clave.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62" y="4689038"/>
            <a:ext cx="3896320" cy="2665809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148" y="1897380"/>
            <a:ext cx="4263985" cy="1143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66980" y="2632710"/>
            <a:ext cx="3896320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Paso 5: Intercambio de Llaves Públicas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366980" y="3317319"/>
            <a:ext cx="3896320" cy="117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Los usuarios intercambian sus llaves públicas. Esto permite que cada uno pueda cifrar mensajes que solo el otro podrá descifrar con su llave privada.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6980" y="4700468"/>
            <a:ext cx="3896320" cy="2665809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0966" y="1621631"/>
            <a:ext cx="4263985" cy="11430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814798" y="2356961"/>
            <a:ext cx="3896320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Paso 6: Cifrado y Firma del Mensaje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9814798" y="3041571"/>
            <a:ext cx="3896320" cy="117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Un usuario cifra un mensaje usando la llave pública del destinatario y lo firma con su propia llave privada, garantizando confidencialidad y autenticidad.</a:t>
            </a:r>
            <a:endParaRPr lang="en-US" sz="1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4798" y="4424720"/>
            <a:ext cx="3896320" cy="2665809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729C3F62-DA52-492A-B356-937F34F6554B}"/>
              </a:ext>
            </a:extLst>
          </p:cNvPr>
          <p:cNvSpPr/>
          <p:nvPr/>
        </p:nvSpPr>
        <p:spPr>
          <a:xfrm>
            <a:off x="12458700" y="7289800"/>
            <a:ext cx="2171700" cy="939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271" y="440888"/>
            <a:ext cx="11894344" cy="500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Implementación Práctica de PGP: Descifrado y Verificación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41271" y="1262420"/>
            <a:ext cx="6593800" cy="6550342"/>
          </a:xfrm>
          <a:prstGeom prst="roundRect">
            <a:avLst>
              <a:gd name="adj" fmla="val 367"/>
            </a:avLst>
          </a:prstGeom>
          <a:solidFill>
            <a:srgbClr val="F0EAEA"/>
          </a:solidFill>
          <a:ln/>
        </p:spPr>
      </p:sp>
      <p:sp>
        <p:nvSpPr>
          <p:cNvPr id="4" name="Shape 2"/>
          <p:cNvSpPr/>
          <p:nvPr/>
        </p:nvSpPr>
        <p:spPr>
          <a:xfrm>
            <a:off x="801529" y="1422678"/>
            <a:ext cx="480893" cy="480893"/>
          </a:xfrm>
          <a:prstGeom prst="roundRect">
            <a:avLst>
              <a:gd name="adj" fmla="val 19012723"/>
            </a:avLst>
          </a:prstGeom>
          <a:solidFill>
            <a:srgbClr val="1D1D1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807" y="1554837"/>
            <a:ext cx="216337" cy="2163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1529" y="2063829"/>
            <a:ext cx="3266242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Paso 7: Descifrado y Verificación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01529" y="2410301"/>
            <a:ext cx="6273284" cy="769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 destinatario descifra el mensaje con su llave privada y verifica la firma digital del remitente usando la llave pública de este, confirmando la integridad y autenticidad.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529" y="3360301"/>
            <a:ext cx="6273284" cy="429220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95329" y="1262420"/>
            <a:ext cx="6593800" cy="6550342"/>
          </a:xfrm>
          <a:prstGeom prst="roundRect">
            <a:avLst>
              <a:gd name="adj" fmla="val 367"/>
            </a:avLst>
          </a:prstGeom>
          <a:solidFill>
            <a:srgbClr val="F0EAEA"/>
          </a:solidFill>
          <a:ln/>
        </p:spPr>
      </p:sp>
      <p:sp>
        <p:nvSpPr>
          <p:cNvPr id="10" name="Shape 6"/>
          <p:cNvSpPr/>
          <p:nvPr/>
        </p:nvSpPr>
        <p:spPr>
          <a:xfrm>
            <a:off x="7555587" y="1422678"/>
            <a:ext cx="480893" cy="480893"/>
          </a:xfrm>
          <a:prstGeom prst="roundRect">
            <a:avLst>
              <a:gd name="adj" fmla="val 19012723"/>
            </a:avLst>
          </a:prstGeom>
          <a:solidFill>
            <a:srgbClr val="1D1D1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7866" y="1554837"/>
            <a:ext cx="216337" cy="2163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55587" y="2063829"/>
            <a:ext cx="2004060" cy="250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Ejemplo de Error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555587" y="2410301"/>
            <a:ext cx="6273284" cy="51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 muestra un ejemplo de error al intentar descifrar un mensaje que no fue cifrado previamente, resaltando la importancia de seguir el protocolo correcto.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5587" y="3103721"/>
            <a:ext cx="6273284" cy="4292203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9BB24C02-0544-4D96-B40B-C832B2FC3B95}"/>
              </a:ext>
            </a:extLst>
          </p:cNvPr>
          <p:cNvSpPr/>
          <p:nvPr/>
        </p:nvSpPr>
        <p:spPr>
          <a:xfrm>
            <a:off x="12458700" y="7812762"/>
            <a:ext cx="2171700" cy="41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175" y="305991"/>
            <a:ext cx="3808452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 err="1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Preguntas</a:t>
            </a:r>
            <a:r>
              <a:rPr lang="en-US" sz="21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sobre PGP</a:t>
            </a:r>
            <a:endParaRPr lang="en-US" sz="215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5E846BA1-5202-40B0-AADC-46A7FD2DE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526" y="2605314"/>
            <a:ext cx="10717348" cy="3018971"/>
          </a:xfrm>
          <a:prstGeom prst="rect">
            <a:avLst/>
          </a:prstGeom>
        </p:spPr>
      </p:pic>
      <p:sp>
        <p:nvSpPr>
          <p:cNvPr id="38" name="Rectángulo 37">
            <a:extLst>
              <a:ext uri="{FF2B5EF4-FFF2-40B4-BE49-F238E27FC236}">
                <a16:creationId xmlns:a16="http://schemas.microsoft.com/office/drawing/2014/main" id="{8475E4B7-D250-43BF-9DF2-464A00277724}"/>
              </a:ext>
            </a:extLst>
          </p:cNvPr>
          <p:cNvSpPr/>
          <p:nvPr/>
        </p:nvSpPr>
        <p:spPr>
          <a:xfrm>
            <a:off x="12458700" y="7812762"/>
            <a:ext cx="2171700" cy="41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B5192BF-41B4-4207-B861-6040BF51D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1" y="2489200"/>
            <a:ext cx="8620258" cy="32512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2EDEDFA-9AD6-4EFB-BA67-D320DB180F54}"/>
              </a:ext>
            </a:extLst>
          </p:cNvPr>
          <p:cNvSpPr/>
          <p:nvPr/>
        </p:nvSpPr>
        <p:spPr>
          <a:xfrm>
            <a:off x="12458700" y="7812762"/>
            <a:ext cx="2171700" cy="41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3359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E5BB8D6-745A-4C2E-AA8F-F2497A9FB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163" y="2560777"/>
            <a:ext cx="11090073" cy="3108046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952360AA-FD15-4E84-914A-0F3DD761B8B2}"/>
              </a:ext>
            </a:extLst>
          </p:cNvPr>
          <p:cNvSpPr/>
          <p:nvPr/>
        </p:nvSpPr>
        <p:spPr>
          <a:xfrm>
            <a:off x="12458700" y="7812762"/>
            <a:ext cx="2171700" cy="41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4209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D2D6B38-2E34-4C66-A059-0235A2F5A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862" y="3490766"/>
            <a:ext cx="11358676" cy="1248068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C750957-8554-4E7F-BA45-DAADD96AF326}"/>
              </a:ext>
            </a:extLst>
          </p:cNvPr>
          <p:cNvSpPr/>
          <p:nvPr/>
        </p:nvSpPr>
        <p:spPr>
          <a:xfrm>
            <a:off x="12458700" y="7812762"/>
            <a:ext cx="2171700" cy="41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5034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C560560-6E35-41CD-81FA-7D36847BA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944" y="3442797"/>
            <a:ext cx="9994512" cy="1344005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3FBD004-361F-4A5D-8F15-A2A6279C48E9}"/>
              </a:ext>
            </a:extLst>
          </p:cNvPr>
          <p:cNvSpPr/>
          <p:nvPr/>
        </p:nvSpPr>
        <p:spPr>
          <a:xfrm>
            <a:off x="12458700" y="7812762"/>
            <a:ext cx="2171700" cy="41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5239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62007EFF-777A-4573-B6D7-FBFCD1A270A2}"/>
              </a:ext>
            </a:extLst>
          </p:cNvPr>
          <p:cNvSpPr/>
          <p:nvPr/>
        </p:nvSpPr>
        <p:spPr>
          <a:xfrm>
            <a:off x="11224305" y="1455056"/>
            <a:ext cx="3386971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 err="1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Respuestas</a:t>
            </a:r>
            <a:r>
              <a:rPr lang="en-US" sz="18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:</a:t>
            </a:r>
            <a:endParaRPr lang="en-US" sz="18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16C93B85-0564-4B33-B869-9B010C7F8E44}"/>
              </a:ext>
            </a:extLst>
          </p:cNvPr>
          <p:cNvSpPr/>
          <p:nvPr/>
        </p:nvSpPr>
        <p:spPr>
          <a:xfrm>
            <a:off x="11224305" y="1742235"/>
            <a:ext cx="3896320" cy="2325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Font typeface="+mj-lt"/>
              <a:buAutoNum type="arabicPeriod"/>
            </a:pPr>
            <a:r>
              <a:rPr lang="es-EC" sz="1800" b="1" dirty="0">
                <a:effectLst/>
                <a:latin typeface="Calibri" panose="020F0502020204030204" pitchFamily="34" charset="0"/>
                <a:ea typeface="Aptos"/>
              </a:rPr>
              <a:t>b) SHA-256</a:t>
            </a:r>
            <a:endParaRPr lang="en-US" sz="1400" b="1" dirty="0">
              <a:effectLst/>
              <a:latin typeface="Calibri" panose="020F0502020204030204" pitchFamily="34" charset="0"/>
              <a:ea typeface="Aptos"/>
            </a:endParaRPr>
          </a:p>
          <a:p>
            <a:pPr marL="342900" indent="-342900" algn="l">
              <a:lnSpc>
                <a:spcPts val="2300"/>
              </a:lnSpc>
              <a:buFont typeface="+mj-lt"/>
              <a:buAutoNum type="arabicPeriod"/>
            </a:pPr>
            <a:r>
              <a:rPr lang="es-EC" sz="1800" b="1" dirty="0">
                <a:effectLst/>
                <a:latin typeface="Calibri" panose="020F0502020204030204" pitchFamily="34" charset="0"/>
                <a:ea typeface="Aptos"/>
              </a:rPr>
              <a:t>a), b), d), e)</a:t>
            </a:r>
            <a:endParaRPr lang="en-US" sz="1400" b="1" dirty="0">
              <a:latin typeface="Calibri" panose="020F0502020204030204" pitchFamily="34" charset="0"/>
              <a:ea typeface="Aptos"/>
            </a:endParaRPr>
          </a:p>
          <a:p>
            <a:pPr marL="342900" indent="-342900" algn="l">
              <a:lnSpc>
                <a:spcPts val="2300"/>
              </a:lnSpc>
              <a:buFont typeface="+mj-lt"/>
              <a:buAutoNum type="arabicPeriod"/>
            </a:pPr>
            <a:r>
              <a:rPr lang="es-EC" sz="1800" b="1" dirty="0">
                <a:effectLst/>
                <a:latin typeface="Calibri" panose="020F0502020204030204" pitchFamily="34" charset="0"/>
                <a:ea typeface="Aptos"/>
              </a:rPr>
              <a:t>1 → B</a:t>
            </a:r>
            <a:br>
              <a:rPr lang="es-EC" sz="1800" b="1" dirty="0">
                <a:effectLst/>
                <a:latin typeface="Calibri" panose="020F0502020204030204" pitchFamily="34" charset="0"/>
                <a:ea typeface="Aptos"/>
              </a:rPr>
            </a:br>
            <a:r>
              <a:rPr lang="es-EC" sz="1800" b="1" dirty="0">
                <a:effectLst/>
                <a:latin typeface="Calibri" panose="020F0502020204030204" pitchFamily="34" charset="0"/>
                <a:ea typeface="Aptos"/>
              </a:rPr>
              <a:t>2 → C</a:t>
            </a:r>
            <a:br>
              <a:rPr lang="es-EC" sz="1800" b="1" dirty="0">
                <a:effectLst/>
                <a:latin typeface="Calibri" panose="020F0502020204030204" pitchFamily="34" charset="0"/>
                <a:ea typeface="Aptos"/>
              </a:rPr>
            </a:br>
            <a:r>
              <a:rPr lang="es-EC" sz="1800" b="1" dirty="0">
                <a:effectLst/>
                <a:latin typeface="Calibri" panose="020F0502020204030204" pitchFamily="34" charset="0"/>
                <a:ea typeface="Aptos"/>
              </a:rPr>
              <a:t>3 → D</a:t>
            </a:r>
            <a:br>
              <a:rPr lang="es-EC" sz="1800" b="1" dirty="0">
                <a:effectLst/>
                <a:latin typeface="Calibri" panose="020F0502020204030204" pitchFamily="34" charset="0"/>
                <a:ea typeface="Aptos"/>
              </a:rPr>
            </a:br>
            <a:r>
              <a:rPr lang="es-EC" sz="1800" b="1" dirty="0">
                <a:effectLst/>
                <a:latin typeface="Calibri" panose="020F0502020204030204" pitchFamily="34" charset="0"/>
                <a:ea typeface="Aptos"/>
              </a:rPr>
              <a:t>4 → A</a:t>
            </a:r>
          </a:p>
          <a:p>
            <a:pPr marL="342900" indent="-342900" algn="l">
              <a:lnSpc>
                <a:spcPts val="2300"/>
              </a:lnSpc>
              <a:buFont typeface="+mj-lt"/>
              <a:buAutoNum type="arabicPeriod"/>
            </a:pPr>
            <a:r>
              <a:rPr lang="es-EC" sz="1800" b="1" dirty="0">
                <a:effectLst/>
                <a:latin typeface="Calibri" panose="020F0502020204030204" pitchFamily="34" charset="0"/>
                <a:ea typeface="Aptos"/>
              </a:rPr>
              <a:t>AES — RSA</a:t>
            </a:r>
            <a:endParaRPr lang="es-EC" b="1" dirty="0">
              <a:latin typeface="Calibri" panose="020F0502020204030204" pitchFamily="34" charset="0"/>
              <a:ea typeface="Aptos"/>
            </a:endParaRPr>
          </a:p>
          <a:p>
            <a:pPr marL="342900" indent="-342900" algn="l">
              <a:lnSpc>
                <a:spcPts val="2300"/>
              </a:lnSpc>
              <a:buFont typeface="+mj-lt"/>
              <a:buAutoNum type="arabicPeriod"/>
            </a:pPr>
            <a:r>
              <a:rPr lang="es-EC" sz="1800" b="1" dirty="0">
                <a:effectLst/>
                <a:latin typeface="Calibri" panose="020F0502020204030204" pitchFamily="34" charset="0"/>
                <a:ea typeface="Aptos"/>
              </a:rPr>
              <a:t>Verdadero</a:t>
            </a:r>
            <a:endParaRPr lang="en-US" sz="14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7C7760-C44C-4637-B057-AABC40F97ADA}"/>
              </a:ext>
            </a:extLst>
          </p:cNvPr>
          <p:cNvSpPr/>
          <p:nvPr/>
        </p:nvSpPr>
        <p:spPr>
          <a:xfrm>
            <a:off x="12458700" y="7812762"/>
            <a:ext cx="2171700" cy="41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EC2F3BDF-7A95-453D-B452-95EAA0CF93EF}"/>
              </a:ext>
            </a:extLst>
          </p:cNvPr>
          <p:cNvSpPr/>
          <p:nvPr/>
        </p:nvSpPr>
        <p:spPr>
          <a:xfrm>
            <a:off x="793790" y="1903928"/>
            <a:ext cx="796944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dirty="0" err="1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Muchas</a:t>
            </a:r>
            <a:r>
              <a:rPr lang="en-US" sz="44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gracias por la </a:t>
            </a:r>
            <a:r>
              <a:rPr lang="en-US" sz="4400" dirty="0" err="1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atención</a:t>
            </a:r>
            <a:endParaRPr lang="en-US" sz="4400" dirty="0"/>
          </a:p>
        </p:txBody>
      </p:sp>
      <p:pic>
        <p:nvPicPr>
          <p:cNvPr id="1026" name="Picture 2" descr="PGP encriptación - PGP Encryption Tool - Chrome Web Store">
            <a:extLst>
              <a:ext uri="{FF2B5EF4-FFF2-40B4-BE49-F238E27FC236}">
                <a16:creationId xmlns:a16="http://schemas.microsoft.com/office/drawing/2014/main" id="{23CDB46B-7A4E-4589-B7F2-C1702B003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90" y="3106057"/>
            <a:ext cx="6572069" cy="4107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330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1016</Words>
  <Application>Microsoft Office PowerPoint</Application>
  <PresentationFormat>Personalizado</PresentationFormat>
  <Paragraphs>82</Paragraphs>
  <Slides>15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Tomorrow Semi Bold</vt:lpstr>
      <vt:lpstr>Tomorrow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LABORATORIO DE COMPUTADORAS FACULTAD</cp:lastModifiedBy>
  <cp:revision>6</cp:revision>
  <dcterms:created xsi:type="dcterms:W3CDTF">2025-12-01T11:51:34Z</dcterms:created>
  <dcterms:modified xsi:type="dcterms:W3CDTF">2025-12-01T14:36:58Z</dcterms:modified>
</cp:coreProperties>
</file>